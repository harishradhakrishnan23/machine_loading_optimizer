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408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hakrishnan, Harish [EMR/FCTL/ISV/PUNE]" userId="ed9cd33b-0df7-42b8-b7d0-f83cda214db9" providerId="ADAL" clId="{2C2FD7C8-C9AF-4E2E-B265-2F5F3BBC2BDE}"/>
    <pc:docChg chg="undo custSel delSld modSld">
      <pc:chgData name="Radhakrishnan, Harish [EMR/FCTL/ISV/PUNE]" userId="ed9cd33b-0df7-42b8-b7d0-f83cda214db9" providerId="ADAL" clId="{2C2FD7C8-C9AF-4E2E-B265-2F5F3BBC2BDE}" dt="2026-07-07T06:51:30.391" v="80" actId="20577"/>
      <pc:docMkLst>
        <pc:docMk/>
      </pc:docMkLst>
      <pc:sldChg chg="modSp mod">
        <pc:chgData name="Radhakrishnan, Harish [EMR/FCTL/ISV/PUNE]" userId="ed9cd33b-0df7-42b8-b7d0-f83cda214db9" providerId="ADAL" clId="{2C2FD7C8-C9AF-4E2E-B265-2F5F3BBC2BDE}" dt="2026-07-07T06:51:30.391" v="80" actId="20577"/>
        <pc:sldMkLst>
          <pc:docMk/>
          <pc:sldMk cId="0" sldId="258"/>
        </pc:sldMkLst>
        <pc:spChg chg="mod">
          <ac:chgData name="Radhakrishnan, Harish [EMR/FCTL/ISV/PUNE]" userId="ed9cd33b-0df7-42b8-b7d0-f83cda214db9" providerId="ADAL" clId="{2C2FD7C8-C9AF-4E2E-B265-2F5F3BBC2BDE}" dt="2026-06-15T06:11:02.900" v="5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Radhakrishnan, Harish [EMR/FCTL/ISV/PUNE]" userId="ed9cd33b-0df7-42b8-b7d0-f83cda214db9" providerId="ADAL" clId="{2C2FD7C8-C9AF-4E2E-B265-2F5F3BBC2BDE}" dt="2026-07-07T06:49:50.912" v="39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adhakrishnan, Harish [EMR/FCTL/ISV/PUNE]" userId="ed9cd33b-0df7-42b8-b7d0-f83cda214db9" providerId="ADAL" clId="{2C2FD7C8-C9AF-4E2E-B265-2F5F3BBC2BDE}" dt="2026-07-07T06:50:49.105" v="43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Radhakrishnan, Harish [EMR/FCTL/ISV/PUNE]" userId="ed9cd33b-0df7-42b8-b7d0-f83cda214db9" providerId="ADAL" clId="{2C2FD7C8-C9AF-4E2E-B265-2F5F3BBC2BDE}" dt="2026-07-07T06:51:30.391" v="80" actId="20577"/>
          <ac:spMkLst>
            <pc:docMk/>
            <pc:sldMk cId="0" sldId="258"/>
            <ac:spMk id="25" creationId="{00000000-0000-0000-0000-000000000000}"/>
          </ac:spMkLst>
        </pc:spChg>
      </pc:sldChg>
      <pc:sldChg chg="modSp mod">
        <pc:chgData name="Radhakrishnan, Harish [EMR/FCTL/ISV/PUNE]" userId="ed9cd33b-0df7-42b8-b7d0-f83cda214db9" providerId="ADAL" clId="{2C2FD7C8-C9AF-4E2E-B265-2F5F3BBC2BDE}" dt="2026-06-15T06:12:37.014" v="14" actId="20577"/>
        <pc:sldMkLst>
          <pc:docMk/>
          <pc:sldMk cId="0" sldId="259"/>
        </pc:sldMkLst>
        <pc:spChg chg="mod">
          <ac:chgData name="Radhakrishnan, Harish [EMR/FCTL/ISV/PUNE]" userId="ed9cd33b-0df7-42b8-b7d0-f83cda214db9" providerId="ADAL" clId="{2C2FD7C8-C9AF-4E2E-B265-2F5F3BBC2BDE}" dt="2026-06-15T06:12:37.014" v="14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Radhakrishnan, Harish [EMR/FCTL/ISV/PUNE]" userId="ed9cd33b-0df7-42b8-b7d0-f83cda214db9" providerId="ADAL" clId="{2C2FD7C8-C9AF-4E2E-B265-2F5F3BBC2BDE}" dt="2026-06-15T06:22:00.765" v="16" actId="113"/>
        <pc:sldMkLst>
          <pc:docMk/>
          <pc:sldMk cId="0" sldId="270"/>
        </pc:sldMkLst>
        <pc:spChg chg="mod">
          <ac:chgData name="Radhakrishnan, Harish [EMR/FCTL/ISV/PUNE]" userId="ed9cd33b-0df7-42b8-b7d0-f83cda214db9" providerId="ADAL" clId="{2C2FD7C8-C9AF-4E2E-B265-2F5F3BBC2BDE}" dt="2026-06-15T06:22:00.765" v="16" actId="113"/>
          <ac:spMkLst>
            <pc:docMk/>
            <pc:sldMk cId="0" sldId="270"/>
            <ac:spMk id="7" creationId="{00000000-0000-0000-0000-000000000000}"/>
          </ac:spMkLst>
        </pc:spChg>
      </pc:sldChg>
      <pc:sldChg chg="addSp delSp modSp mod">
        <pc:chgData name="Radhakrishnan, Harish [EMR/FCTL/ISV/PUNE]" userId="ed9cd33b-0df7-42b8-b7d0-f83cda214db9" providerId="ADAL" clId="{2C2FD7C8-C9AF-4E2E-B265-2F5F3BBC2BDE}" dt="2026-06-15T06:26:22.154" v="28" actId="255"/>
        <pc:sldMkLst>
          <pc:docMk/>
          <pc:sldMk cId="0" sldId="271"/>
        </pc:sldMkLst>
        <pc:spChg chg="mod">
          <ac:chgData name="Radhakrishnan, Harish [EMR/FCTL/ISV/PUNE]" userId="ed9cd33b-0df7-42b8-b7d0-f83cda214db9" providerId="ADAL" clId="{2C2FD7C8-C9AF-4E2E-B265-2F5F3BBC2BDE}" dt="2026-06-15T06:26:22.154" v="28" actId="255"/>
          <ac:spMkLst>
            <pc:docMk/>
            <pc:sldMk cId="0" sldId="271"/>
            <ac:spMk id="1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annual cost (US$ thousands)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0D-4C40-B1AF-C5A19024D74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00D-4C40-B1AF-C5A19024D74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00D-4C40-B1AF-C5A19024D74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00D-4C40-B1AF-C5A19024D74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00D-4C40-B1AF-C5A19024D7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OR-Tools CP-SAT</c:v>
                </c:pt>
                <c:pt idx="1">
                  <c:v>Gurobi</c:v>
                </c:pt>
                <c:pt idx="2">
                  <c:v>IBM CPLEX</c:v>
                </c:pt>
                <c:pt idx="3">
                  <c:v>FICO Xpress</c:v>
                </c:pt>
                <c:pt idx="4">
                  <c:v>Hexaly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26</c:v>
                </c:pt>
                <c:pt idx="2">
                  <c:v>22.5</c:v>
                </c:pt>
                <c:pt idx="3">
                  <c:v>27.5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00D-4C40-B1AF-C5A19024D7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57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'why' — emphasize that the complexity (1,418 op-rows, 18 machines, interacting constraints) is what makes this a genuine optimization problem, not a spreadsheet exercise. These same scale numbers come back on the CP-SAT cost-benefit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0 (Oracle Foundation) is scoped and ready — this is the concrete next action pending approval. Phases 1-5 follow sequentially as documented in the project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establishes the technical justification before the licensing/security discussion: CP-SAT isn't an arbitrary open-source choice — its primitives map one-to-one onto the locked business rules in CLAUDE.md (precedence, AddExactlyOne, AddNoOverlap, capacity, objective weighting).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presented as indicative ranges only — be ready to say this came from public market research, not vendor quotes, if pressed. The point is qualitative: every alternative carries a recurring 5-figure annual cost; CP-SAT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ask of the deck. Keep it simple in the room: 'We are not asking to avoid evaluating paid tools — we evaluated them, and at our data volume they buy nothing extra. CP-SAT is free, on-prem, and purpose-built for exactly this problem.'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brief in the room — CP-SAT is the main ask. For Claude, the message is simply: it's a dev-time productivity tool with no production footprint, and Anthropic's published certifications (SOC2/ISO) give IT a starting point for their own governance review. Verify current certification status against trust.anthropic.com before final submission, as these are renewed periodically.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261872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0E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1856232"/>
            <a:ext cx="3017520" cy="384048"/>
          </a:xfrm>
          <a:prstGeom prst="roundRect">
            <a:avLst>
              <a:gd name="adj" fmla="val 14286"/>
            </a:avLst>
          </a:prstGeom>
          <a:solidFill>
            <a:srgbClr val="CFE0F5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75320" y="245059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0E9F8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098280" y="304495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CF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01000" y="3639312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0E9F8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23960" y="4233672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CFE0F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66760" y="4828032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0E9F8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15400" y="542239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CFE0F5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83210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BRIEFING  ·  TECHNOLOGY &amp; COMPLIANCE 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" y="2156968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Loading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status, business case, and an open-source algorithm (CP-SAT) compliance assessment for security approval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40" y="5349240"/>
            <a:ext cx="4389120" cy="0"/>
          </a:xfrm>
          <a:prstGeom prst="line">
            <a:avLst/>
          </a:prstGeom>
          <a:noFill/>
          <a:ln w="12700">
            <a:solidFill>
              <a:srgbClr val="2F4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443728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Radhakrishnan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Intern – ISV IT, Emerson Process Management (India) Pvt. Ltd.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 —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Challenge: Manual Scheduling at the Plant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538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17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active orders, 18+ machines — planned by hand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174650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Shift-level schedules are built manually, with no systematic way to weigh delivery urgency, order age, and batching opportunities together.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60904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624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interacting constraints to track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05840" y="29535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must run in strict ascending sequence, a batch must stay on one machine, and setup time depends on what ran before it — far beyond what a spreadsheet can hold.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6791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8313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Re-planning is a manual rebuild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005840" y="41605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planner needs to elevate one order's priority, the downstream schedule must be re-worked by hand with no preview of the ripple effect.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074920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503834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on delivery risk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05840" y="536752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only discover that a committed delivery date will be missed once it is too late to react.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315200" y="1192784"/>
            <a:ext cx="4325112" cy="4846320"/>
          </a:xfrm>
          <a:prstGeom prst="roundRect">
            <a:avLst>
              <a:gd name="adj" fmla="val 1691"/>
            </a:avLst>
          </a:prstGeom>
          <a:solidFill>
            <a:srgbClr val="EFF6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MANUAL TASK TODAY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76352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9189720" y="2313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orders in WIP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6352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21</a:t>
            </a:r>
            <a:endParaRPr lang="en-US" sz="3600" dirty="0"/>
          </a:p>
        </p:txBody>
      </p:sp>
      <p:sp>
        <p:nvSpPr>
          <p:cNvPr id="21" name="Text 15"/>
          <p:cNvSpPr/>
          <p:nvPr/>
        </p:nvSpPr>
        <p:spPr>
          <a:xfrm>
            <a:off x="9189720" y="3273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across the shop floor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635240" y="4160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1,500+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9189720" y="4233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Schedulable operation-rows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635240" y="5120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9189720" y="5193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routed for (7 major operation)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 — PART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01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1540" y="224028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automated, ML-driven machine scheduling system that eliminates manual planning bottlenecks in Emerson's valve manufacturing shop floor.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99632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6F7F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14032" y="19019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9860" y="23571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real-time, optimal shift-level schedules across all machines and orders — minimizing delivery tardiness, maximizing machine utilization, and giving planners instant impact analysis when priorities change.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A Two-Engine Optimization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0FDF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10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— SCHEDULING OPTIMIZER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418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Google OR-Tools CP-SAT  (Apache 2.0)</a:t>
            </a:r>
            <a:endParaRPr lang="en-US" sz="1400" b="1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optimal shift-level Gantt schedule for all pending orders across all 18 machines in a single solve — balancing delivery urgency, order age, batching opportunities, and setup time simultaneously.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46304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EFF6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783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4032" y="1810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— RECOMMENDATION ENGINE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19672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CP-SAT re-solve, 10-second time limit</a:t>
            </a:r>
            <a:endParaRPr lang="en-US" sz="1400" b="1" dirty="0"/>
          </a:p>
        </p:txBody>
      </p:sp>
      <p:sp>
        <p:nvSpPr>
          <p:cNvPr id="13" name="Text 9"/>
          <p:cNvSpPr/>
          <p:nvPr/>
        </p:nvSpPr>
        <p:spPr>
          <a:xfrm>
            <a:off x="6519672" y="288036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effect of elevating one or more orders' priority and reports the impact on every other order's delivery date — classified SAFE, AT_RISK, or BREACH — before the planner commits the change.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1's output becomes the live, published schedule. Engine 2 runs on demand from the Order Board to preview "what-if" scenarios without disturbing the live schedule until a planner approves the change.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— COMPLETED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End-to-End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—  Oracle Database (XE / company Oracle)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wip_orders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· ERP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22220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machine_master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(v1)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31208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machine_daily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 ·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40196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routing_master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(v1)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49184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schedule_output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 WRITES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58172" y="1563624"/>
            <a:ext cx="1717548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sim_results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WRITES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1091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088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37286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  —  Python (preprocess · Engine 1 · Engine 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63804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resolve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6714" y="263804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scheduler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0196" y="263804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recommender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53678" y="263804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UI-editable params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177540"/>
            <a:ext cx="11091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44728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—  FastAPI · 10 endpoints · Pydantic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371246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APIs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/ current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31208" y="371246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API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priority/simulate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49184" y="371246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Config APIs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· capacity · machine_daily ·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11091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577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452170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2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  —  React 18 + Vite · Tailwind · Recharts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" y="478688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ScheduleView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6714" y="478688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OrderBoard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drag-to-reprioritise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40196" y="478688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53678" y="4786884"/>
            <a:ext cx="2622042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MachineAvailability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config editor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326380"/>
            <a:ext cx="1109167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" y="559612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LAYER  —  Windows Server (IIS not used)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" y="586130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TovMLO-API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NSSM · Uvicorn :8000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31208" y="586130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TovMLO-Frontend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NSSM · Express :80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49184" y="5861304"/>
            <a:ext cx="3526536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company DB / dev XE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2560" y="548640"/>
            <a:ext cx="2587752" cy="502920"/>
          </a:xfrm>
          <a:prstGeom prst="roundRect">
            <a:avLst>
              <a:gd name="adj" fmla="val 49091"/>
            </a:avLst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052560" y="548640"/>
            <a:ext cx="258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PHASE: COMPLETE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56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38074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model finalized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87552" y="17099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Oracle tables mapped at the column level — wip_orders, machine_master, machine_daily, routing_master, schedule_output, sim_results — including read/write access rules for each.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8658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331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scheduling rules and formulas locked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87552" y="26609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weighting (PDD, ageing, batch bonus, downstream-queue bonus), batch-overflow logic, setup-time rules, and Engine 2 risk classification (SAFE / AT_RISK / BREACH) are finalized.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328269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 designed and documented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87552" y="3611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design — Oracle data → Python/CP-SAT engines → FastAPI → React UI → Windows Server deployment — fully specified in the project brief.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8853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7552" y="42336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selected and validated — 100% free / open-source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987552" y="45628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Google OR-Tools CP-SAT, React, and Express.js (replacing IIS entirely). No paid software anywhere in the stack.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3951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87552" y="51846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phase scoped and ready to begin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987552" y="55138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schema (6 tables), import scripts, and connection setup are specified and awaiting the go-ahead to start Phase 0.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— PART 2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Production — Phases 0 through 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XE schema (6 tables), import scripts, connection test, .env setup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95728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35808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3580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395728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68880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1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505456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scheduler — preprocessing, batch overflow, setup time, priority objective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42816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82896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8289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42816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15968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2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352544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— snapshot, re-solve, slip/risk classifier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7408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07408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9904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29984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29984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89904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63056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199632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REST endpoints, Pydantic schemas, CORS, config GET/PUT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54496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54496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36992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77072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70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936992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10144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UI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046720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 — Gantt schedule, Order Board, Impact Analyser, Machine Availability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01584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01584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84080" y="1463040"/>
            <a:ext cx="1783080" cy="443484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42416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4241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78408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857232" y="256032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9893808" y="3017520"/>
            <a:ext cx="15636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NSSM Windows services (Uvicorn + Express), end-to-end integration test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948672" y="5440680"/>
            <a:ext cx="1453896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948672" y="5440680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for Emerson's TOV Operations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7393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8600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Days to Seconds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turns a manual what-if re-sequencing exercise into a 10-second automated simulation — before any change is committed.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3225" y="141732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41825" y="164592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841" y="177393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1825" y="228600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Machine Utilization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1825" y="265176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solves capacity, setup-time, and sequencing constraints across all 18 machines holistically — a scale of optimization no manual planner can match.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77810" y="141732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06410" y="164592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26" y="177393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6410" y="228600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Delivery Tardiness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6410" y="265176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run explicitly minimizes urgency-weighted lateness across all 331 active orders, not just the most visible ones.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0050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22910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571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6918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Visibility Before Commitment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3494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AT_RISK / BREACH flags show the downstream impact of a priority change on every other order before it is approved.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13225" y="400050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41825" y="422910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841" y="435711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1825" y="486918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Licensing Cost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1825" y="523494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stack — including the optimization engine — is free and open-source. No software procurement required.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77810" y="4000500"/>
            <a:ext cx="3535985" cy="2354580"/>
          </a:xfrm>
          <a:prstGeom prst="roundRect">
            <a:avLst>
              <a:gd name="adj" fmla="val 3107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06410" y="4229100"/>
            <a:ext cx="502920" cy="50292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426" y="435711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6410" y="4869180"/>
            <a:ext cx="30787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Extensible Foundation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6410" y="5234940"/>
            <a:ext cx="307878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routing-extensible design means new operations and future plant lines can be added without re-architecting the system.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DEEP-DIVE —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CP-SAT: The Right Engine for This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46320" cy="4846320"/>
          </a:xfrm>
          <a:prstGeom prst="roundRect">
            <a:avLst>
              <a:gd name="adj" fmla="val 1509"/>
            </a:avLst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64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CP-SAT?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CP-SAT (Constraint Programming – SAT) is Google's open-source combinatorial optimization solver, part of OR-Tools.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constraint propagation with a SAT/MIP-style search to solve scheduling, sequencing, and resource-allocation problems that are intractable for spreadsheets or hand-built heuristics — exactly the class of problem TOV machine loading represents.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5440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License 2.0  ·  Free for commercial use  ·  Maintained by Google</a:t>
            </a:r>
            <a:endParaRPr lang="en-US" sz="1100" b="1" dirty="0"/>
          </a:p>
        </p:txBody>
      </p:sp>
      <p:sp>
        <p:nvSpPr>
          <p:cNvPr id="10" name="Text 7"/>
          <p:cNvSpPr/>
          <p:nvPr/>
        </p:nvSpPr>
        <p:spPr>
          <a:xfrm>
            <a:off x="5623560" y="1261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NEEDS IT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65815"/>
              </p:ext>
            </p:extLst>
          </p:nvPr>
        </p:nvGraphicFramePr>
        <p:xfrm>
          <a:off x="5623560" y="1581912"/>
          <a:ext cx="6016752" cy="396849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CP-SAT building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ascending operation sequence (OPERATION_NO)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Precedence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machine per batch, no mid-batch switching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AddExactlyOne machine-selection 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double-booking a machine within a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AddNoOverlap interval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capacity limits (AVAILABLE_MINS)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capacity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 prioritization (urgency_weight)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objective minimization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"What-if" priority simulation in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incremental re-solve (10s limit)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23560" y="5577840"/>
            <a:ext cx="6016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native CP-SAT primitives. A general-purpose MIP solver (Gurobi, Xpress) would require reformulating every interval, sequencing, and disjunctive-resource rule from scratch — adding development time, risk, and solve-time overhead.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— PART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Source Does Not Mean Unsecured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6362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990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License 2.0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88720" y="17282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OSI-approved, permissive license. Permits unrestricted commercial use, modification, and internal distribution — with no royalties and no copyleft (source-disclosure) obligations on Emerson's code.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53288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68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Google's Operations Research team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88720" y="2697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OR-Tools, one of the most widely deployed open-source optimization libraries in industry, with over a decade of active development and a large user community.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02152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37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On-Premises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88720" y="3666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executes as a local Python library inside Emerson's own backend process. All computation is in-memory; no external API calls, no telemetry, and no data leaves Emerson's network at runtime.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47141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30682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 Source Code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88720" y="46360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source is publicly inspectable on GitHub. Emerson's security team can review exactly what the code does — a level of transparency closed-source commercial binaries cannot offer.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rgbClr val="E6F7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544068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52760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Vendor Exposure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188720" y="56052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keys, no annual renewals, no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EULA to manage — and the permissive license guarantees Emerson's continued right to use the code even if upstream development ever slowed.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— PART 2 OF 4  ·  DUE DILIGENCE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Alternatives Were Evaluated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annual cost*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scheduling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OR-Tools CP-SAT  (current)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CP-SAT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9F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—  Apache 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fit — built for interval / no-overlap / disjunctive scheduling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Gurobi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/ MIP / QP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~$12k – $40k+ / 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full MIP reformulation; no native interval variables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CPLEX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LP/MIP + CP Optimizer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~$10k – $35k+ / 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Optimizer is the only true scheduling competitor to CP-SAT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FICO Xpress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/ MIP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~$15k – $40k+ / 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reformulation needed; no native CP scheduling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Hexaly  (ex-LocalSolver)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+ scheduling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~$10k – $30k+ / 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on scheduling; expresses interval/sequence natively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ANNUAL COST  (US$ thousands)</a:t>
            </a:r>
            <a:endParaRPr lang="en-US" sz="10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890077850"/>
              </p:ext>
            </p:extLst>
          </p:nvPr>
        </p:nvGraphicFramePr>
        <p:xfrm>
          <a:off x="548640" y="4785360"/>
          <a:ext cx="11091672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— PART 3 OF 4  ·  THE DECISIVE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Pay for What This Project Doesn't Need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 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Schedulable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operation-rows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on the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floor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10 sec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52560" y="23774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 “what-if”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limit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30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251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this problem size, CP-SAT is among the strongest scheduling solvers available and matches or beats commercial CP solvers on most published scheduling benchmarks. The 10-second Engine 2-time limit solves comfortably at this scale.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solver would not produce a measurably better schedule for a problem of this size. It would add an annual licensing cost — indefinitely — for a benefit that, at our scale, is effectively zero.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 — SUPPLEMENTARY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Tooling: Claude (Anthropic)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8FA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used as a </a:t>
            </a: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assistant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build phase — code generation, debugging, and documentation support on the developer's own workstation, via an API-key-based setup already in use.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part of the production runtime. The deployed application — Python / FastAPI / OR-Tools / React / Oracle — runs entirely on Emerson's own infrastructure, with no AI model in the loop at any point during scheduling or data processing.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1B2A4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4032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COMPLIANCE POSTURE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96812" y="20116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publishes SOC 2 Type II, ISO/IEC 27001:2022, and ISO/IEC 42001:2023 certifications via its Trust Center.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accounts support Zero Data Retention (ZDR) configurations, where no conversation content is persisted after the request.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route final sign-off through Emerson's standard third-party software / AI-tool governance process, using Anthropic's Trust Center documentation as the supporting evidence package.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Request for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0E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Google OR-Tools CP-SAT (Apache License 2.0)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 in TOV-MLO development and production — a native fit for this scheduling problem, $0 cost, fully auditable, on-premises execution 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2F44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364992"/>
            <a:ext cx="502920" cy="502920"/>
          </a:xfrm>
          <a:prstGeom prst="ellipse">
            <a:avLst/>
          </a:prstGeom>
          <a:solidFill>
            <a:srgbClr val="0E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127248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Claude Code as a development-assistance tool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5204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Emerson's existing IT software governance process, supported by Anthropic's published SOC 2 Type II and ISO 27001 / 42001 certifications.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75945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E9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procurement required.  </a:t>
            </a:r>
            <a:r>
              <a:rPr lang="en-US" sz="1600" i="1" dirty="0">
                <a:solidFill>
                  <a:srgbClr val="CFE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phase from here uses tools already evaluated as free, open-source, and on-premises.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 Machine Loading Optimizer  |  Internal Briefing — Not for External Distribution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E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108960" y="530352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CFE0F5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0" y="5303520"/>
            <a:ext cx="3017520" cy="320040"/>
          </a:xfrm>
          <a:prstGeom prst="roundRect">
            <a:avLst>
              <a:gd name="adj" fmla="val 17143"/>
            </a:avLst>
          </a:prstGeom>
          <a:solidFill>
            <a:srgbClr val="0E9F8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0" y="530352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CFE0F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0" y="5303520"/>
            <a:ext cx="1033272" cy="320040"/>
          </a:xfrm>
          <a:prstGeom prst="roundRect">
            <a:avLst>
              <a:gd name="adj" fmla="val 17143"/>
            </a:avLst>
          </a:prstGeom>
          <a:solidFill>
            <a:srgbClr val="0E9F8C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9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Radhakrishnan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Intern — PMO, Emerson Process Management (India) Pvt. Ltd.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2544</Words>
  <Application>Microsoft Office PowerPoint</Application>
  <PresentationFormat>Widescreen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TOV Machine Loading Optimizer — Project Briefing &amp; Compliance Review</dc:title>
  <dc:subject>PptxGenJS Presentation</dc:subject>
  <dc:creator>Harish Radhakrishnan</dc:creator>
  <cp:lastModifiedBy>Radhakrishnan, Harish [EMR/FCTL/ISV/PUNE]</cp:lastModifiedBy>
  <cp:revision>2</cp:revision>
  <dcterms:created xsi:type="dcterms:W3CDTF">2026-06-15T05:11:27Z</dcterms:created>
  <dcterms:modified xsi:type="dcterms:W3CDTF">2026-07-07T07:00:22Z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2026-06-15T06:01:30Z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a4d15275-1d7d-4926-b33f-0ef7d13bbb79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